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UFRJ  ·  ENGENHARIA DE SOFTWARE  · 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5F7FA"/>
                </a:solidFill>
                <a:latin typeface="Inter"/>
              </a:rPr>
              <a:t>Sistema Multiagente de</a:t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60A5FA"/>
                </a:solidFill>
                <a:latin typeface="Inter"/>
              </a:rPr>
              <a:t>Elicitacao de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9AA5B8"/>
                </a:solidFill>
                <a:latin typeface="Inter"/>
              </a:rPr>
              <a:t>Stakeholders como Personas de LLM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892040"/>
            <a:ext cx="3291840" cy="0"/>
          </a:xfrm>
          <a:prstGeom prst="line">
            <a:avLst/>
          </a:prstGeom>
          <a:ln w="12700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0749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Cassio Emanuel  ·  Giovanna Lavouras  ·  Rafael Maiani  ·  Rodrigo Nogueira  ·  Thiago Barcellos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9AA5B8"/>
                </a:solidFill>
                <a:latin typeface="Inter"/>
              </a:rPr>
              <a:t>Estudo de caso: EJCM Consultoria — Empresa Junior da UFRJ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01  · 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Inter"/>
              </a:rPr>
              <a:t>A elicitacao de requisitos ainda e a fase mais critica —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Inter"/>
              </a:rPr>
              <a:t>e tambem a mais fragil — do desenvolvimento de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704088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F5F7FA"/>
                </a:solidFill>
                <a:latin typeface="Inter"/>
              </a:rPr>
              <a:t>Entrevistar stakeholders e caro, demorado e propenso a ruido. Informacoes se perdem, ambiguidades passam despercebidas e o esforco manual de analise qualitativa e enorme.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F5F7FA"/>
                </a:solidFill>
                <a:latin typeface="Inter"/>
              </a:rPr>
              <a:t>Alem disso, a IA generativa aplicada a Engenharia de Software esta concentrada em codigo, testes e operacao </a:t>
            </a:r>
            <a:r>
              <a:rPr sz="1700" b="1" i="0">
                <a:solidFill>
                  <a:srgbClr val="60A5FA"/>
                </a:solidFill>
                <a:latin typeface="Inter"/>
              </a:rPr>
              <a:t>— ha uma lacuna clara nas fases iniciais do ciclo, exatamente onde os erros custam mais caro.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834640"/>
            <a:ext cx="3474720" cy="3383280"/>
          </a:xfrm>
          <a:prstGeom prst="roundRect">
            <a:avLst>
              <a:gd name="adj" fmla="val 6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2971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PONTOS DE 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38328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Ambiguidade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Requisitos conflitantes entre stakeholders.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Perda de informacao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Nuances das entrevistas nao chegam a especificacao.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Esforco manual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Analise qualitativa consome dias de trabalho.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02  · 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Inter"/>
              </a:rPr>
              <a:t>E se cada stakeholder fosse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Inter"/>
              </a:rPr>
              <a:t>uma persona interpretada por um agente de 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60A5FA"/>
                </a:solidFill>
                <a:latin typeface="Inter"/>
              </a:rPr>
              <a:t>Nossa proposta: </a:t>
            </a:r>
            <a:r>
              <a:rPr sz="1800" b="0" i="0">
                <a:solidFill>
                  <a:srgbClr val="F5F7FA"/>
                </a:solidFill>
                <a:latin typeface="Inter"/>
              </a:rPr>
              <a:t>um pipeline automatizado, baseado em IA generativa, que apoia a Engenharia de Requisitos por meio de um </a:t>
            </a:r>
            <a:r>
              <a:rPr sz="1800" b="1" i="0">
                <a:solidFill>
                  <a:srgbClr val="F5F7FA"/>
                </a:solidFill>
                <a:latin typeface="Inter"/>
              </a:rPr>
              <a:t>sistema multiagente orientado por personas.</a:t>
            </a:r>
          </a:p>
          <a:p>
            <a:pPr algn="l">
              <a:lnSpc>
                <a:spcPct val="15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F5F7FA"/>
                </a:solidFill>
                <a:latin typeface="Inter"/>
              </a:rPr>
              <a:t>A partir de entrevistas estruturadas com stakeholders reais, o sistema gera personas fieis, instancia um agente para cada uma delas, produz requisitos individuais sob cada perspectiva e, finalmente, consolida tudo num Documento de Especificacao de Requisitos (SRS) com o apoio de </a:t>
            </a:r>
            <a:r>
              <a:rPr sz="1800" b="1" i="0">
                <a:solidFill>
                  <a:srgbClr val="34D399"/>
                </a:solidFill>
                <a:latin typeface="Inter"/>
              </a:rPr>
              <a:t>Retrieval-Augmented Generation (RAG)</a:t>
            </a:r>
            <a:r>
              <a:rPr sz="1800" b="0" i="0">
                <a:solidFill>
                  <a:srgbClr val="F5F7FA"/>
                </a:solidFill>
                <a:latin typeface="Inter"/>
              </a:rPr>
              <a:t> sobre a base de conhecimento da organizacao.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03  ·  TRABALHOS RELACIONADOS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Inter"/>
              </a:rPr>
              <a:t>O que ja existe — e o que ainda faltava.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RECOVER  ·  Voria et al. (2025)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Gera requisitos direto da conversa. Nao modela personas nem multiplas perspectivas.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73152" cy="21031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Multiagentes  ·  Samil et al.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PO, Dev, QA como agentes. Trabalha com cenarios abstratos, sem usuarios reais.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3152" cy="2103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W6H  ·  Sultan &amp; Miranskyy (2018)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Padrao Who/What/Which/Where/How/Why/When para reduzir ambiguidade em entrevistas.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160520"/>
            <a:ext cx="73152" cy="2103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Silicon Sampling  ·  Argyle (2023) / Anthis (2025)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9377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LLMs simulando humanos. Defende context-rich prompting com entrevistas reais.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Nosso diferencial: unir personas fundamentadas em entrevistas reais + agentes autonomos + RAG num unico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04  · 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Inter"/>
              </a:rPr>
              <a:t>Visao geral: quatro etapas, um so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AA5B8"/>
                </a:solidFill>
                <a:latin typeface="Inter"/>
              </a:rPr>
              <a:t>Da entrevista bruta ao documento de requisitos consolidado.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F7FA"/>
                </a:solidFill>
                <a:latin typeface="Inter"/>
              </a:rPr>
              <a:t>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Entrevistas estruturadas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com padrao W6H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(Google Forms)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33172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560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0175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F7FA"/>
                </a:solidFill>
                <a:latin typeface="Inter"/>
              </a:rPr>
              <a:t>Personas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74904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GPT-5 sintetiza personas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detalhadas por stakeholder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(validacao Likert)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33172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175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F7FA"/>
                </a:solidFill>
                <a:latin typeface="Inter"/>
              </a:rPr>
              <a:t>Simulador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4904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Agente Gemini 2.5 Flash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gera requisitos por persona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331720"/>
            <a:ext cx="2697480" cy="31089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560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0175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F7FA"/>
                </a:solidFill>
                <a:latin typeface="Inter"/>
              </a:rPr>
              <a:t>Consolidador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749040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Agente + RAG na base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de conhecimento da EJCM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=&gt; SRS unificado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3794760"/>
            <a:ext cx="164592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794760"/>
            <a:ext cx="164592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5712" y="3794760"/>
            <a:ext cx="164592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109960" cy="594360"/>
          </a:xfrm>
          <a:prstGeom prst="roundRect">
            <a:avLst>
              <a:gd name="adj" fmla="val 4000"/>
            </a:avLst>
          </a:prstGeom>
          <a:solidFill>
            <a:srgbClr val="111828"/>
          </a:solidFill>
          <a:ln w="9525">
            <a:solidFill>
              <a:srgbClr val="60A5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23560"/>
            <a:ext cx="11109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Inter"/>
              </a:rPr>
              <a:t>Figura 1 do relatorio — diagrama geral do pipeline (opcional)</a:t>
            </a:r>
          </a:p>
          <a:p>
            <a:pPr algn="ctr"/>
            <a:r>
              <a:rPr sz="1100" i="1">
                <a:solidFill>
                  <a:srgbClr val="9AA5B8"/>
                </a:solidFill>
                <a:latin typeface="Inter"/>
              </a:rPr>
              <a:t>
[ inserir imagem editavel aqui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05  ·  ETAPA 1  ·  COLETA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Inter"/>
              </a:rPr>
              <a:t>Entrevistas estruturadas com o padrao W6H.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62179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Um formulario no Google Forms — construido sobre o padrao </a:t>
            </a:r>
            <a:r>
              <a:rPr sz="1600" b="1" i="0">
                <a:solidFill>
                  <a:srgbClr val="60A5FA"/>
                </a:solidFill>
                <a:latin typeface="Inter"/>
              </a:rPr>
              <a:t>W6H</a:t>
            </a:r>
            <a:r>
              <a:rPr sz="1600" b="0" i="0">
                <a:solidFill>
                  <a:srgbClr val="F5F7FA"/>
                </a:solidFill>
                <a:latin typeface="Inter"/>
              </a:rPr>
              <a:t> (Sultan &amp; Miranskyy, 2018) — captura, de forma padronizada, o perfil e as necessidades de cada participante.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As respostas alimentam diretamente o restante do pipeline como contexto rico e estruturado, evitando ambiguidade desde a origem.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Aplicado no estudo de caso com </a:t>
            </a:r>
            <a:r>
              <a:rPr sz="1600" b="1" i="0">
                <a:solidFill>
                  <a:srgbClr val="34D399"/>
                </a:solidFill>
                <a:latin typeface="Inter"/>
              </a:rPr>
              <a:t>6 membros da EJCM </a:t>
            </a:r>
            <a:r>
              <a:rPr sz="1600" b="0" i="0">
                <a:solidFill>
                  <a:srgbClr val="F5F7FA"/>
                </a:solidFill>
                <a:latin typeface="Inter"/>
              </a:rPr>
              <a:t>em 5 cargos distintos.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4526280" cy="411480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965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PADRAO W6H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23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Quem e o stakeholder?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880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O que ele precisa?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337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Which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Quais alternativas existem?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7947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94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Onde o sistema atua?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2519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Como sera utilizado?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7091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09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Por que isso importa?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166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When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Quando e usado?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06  ·  ETAPA 2  · 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Inter"/>
              </a:rPr>
              <a:t>Cada entrevista vira uma persona rica e estruturada.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O modelo </a:t>
            </a:r>
            <a:r>
              <a:rPr sz="1600" b="1" i="0">
                <a:solidFill>
                  <a:srgbClr val="60A5FA"/>
                </a:solidFill>
                <a:latin typeface="Inter"/>
              </a:rPr>
              <a:t>GPT-5 </a:t>
            </a:r>
            <a:r>
              <a:rPr sz="1600" b="0" i="0">
                <a:solidFill>
                  <a:srgbClr val="F5F7FA"/>
                </a:solidFill>
                <a:latin typeface="Inter"/>
              </a:rPr>
              <a:t>recebe a entrevista completa e, guiado por um prompt de engenharia rigorosa, produz uma persona com: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Papel no negocio  ·  Perfil comportamental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Objetivos  ·  Necessidades explicitas e implicitas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Principais dificuldades vividas no dia a dia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Cada persona foi gerada </a:t>
            </a:r>
            <a:r>
              <a:rPr sz="1600" b="1" i="0">
                <a:solidFill>
                  <a:srgbClr val="34D399"/>
                </a:solidFill>
                <a:latin typeface="Inter"/>
              </a:rPr>
              <a:t>5 vezes </a:t>
            </a:r>
            <a:r>
              <a:rPr sz="1600" b="0" i="0">
                <a:solidFill>
                  <a:srgbClr val="F5F7FA"/>
                </a:solidFill>
                <a:latin typeface="Inter"/>
              </a:rPr>
              <a:t>para avaliar consistencia do modelo. A melhor versao foi enviada ao proprio stakeholder para validacao (Likert de 4 pontos: clareza, completude, corretude).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828800"/>
            <a:ext cx="4892040" cy="411480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PROMPT — GERACAO DE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377440"/>
            <a:ext cx="44805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5F7FA"/>
                </a:solidFill>
                <a:latin typeface="Inter"/>
              </a:rPr>
              <a:t>"Gerar descricao detalhada de persona para o stakeholder responsavel pela entrevista..."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34D399"/>
                </a:solidFill>
                <a:latin typeface="Inter"/>
              </a:rPr>
              <a:t>Instrucoes principais: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Identificar necessidades explicitas e implicitas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Tracar perfil a partir dos padroes de resposta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Gerar descricao consistente com o stakeholder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Formato de saida fixo: Persona, Papel, Perfil, Objetivos, Necessidades, Dificuldades.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06  ·  ETAPA 2  · 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Inter"/>
              </a:rPr>
              <a:t>Exemplo real — Assessora de Gestao de Pessoas.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9AA5B8"/>
                </a:solidFill>
                <a:latin typeface="Inter"/>
              </a:rPr>
              <a:t>Trecho da persona gerada automaticamente a partir da entrevista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532120" cy="40233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PAPEL NO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Responsavel por administrar todo o ciclo de vida dos membros da EJCM: ingresso de trainees, acompanhamento de efetivos, feedbacks, avaliacoes e treinamento. O sistema e sua principal ferramenta diaria para consolidar informacoes e reduzir tarefas operacionais repetitivas.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330952" cy="40233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Inter"/>
              </a:rPr>
              <a:t>OBJETIVOS  &amp;  PRINCIPAIS 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Centralizar informacoes de membros e trainees em um so sistema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Eliminar multiplos logins (SSO)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5F7FA"/>
                </a:solidFill>
                <a:latin typeface="Inter"/>
              </a:rPr>
              <a:t>Reduzir atividades manuais e repetitivas</a:t>
            </a:r>
          </a:p>
          <a:p>
            <a:pPr algn="l">
              <a:lnSpc>
                <a:spcPct val="14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300" b="1" i="0">
                <a:solidFill>
                  <a:srgbClr val="F4726C"/>
                </a:solidFill>
                <a:latin typeface="Inter"/>
              </a:rPr>
              <a:t>Dor principal:</a:t>
            </a:r>
          </a:p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9AA5B8"/>
                </a:solidFill>
                <a:latin typeface="Inter"/>
              </a:rPr>
              <a:t>informacoes fragmentadas entre Notion, Google Planilhas, Docs e Drive — multiplos logins, retrabalho e inconsistencias entre registros.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07  ·  ETAPA 3  ·  SIMULADOR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Inter"/>
              </a:rPr>
              <a:t>Cada persona ganha um agente — e produz seus proprios requisitos.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94360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Implementacao em </a:t>
            </a:r>
            <a:r>
              <a:rPr sz="1600" b="1" i="0">
                <a:solidFill>
                  <a:srgbClr val="60A5FA"/>
                </a:solidFill>
                <a:latin typeface="Inter"/>
              </a:rPr>
              <a:t>Python + Google AI Studio (Gemini 2.5 Flash)</a:t>
            </a:r>
            <a:r>
              <a:rPr sz="1600" b="0" i="0">
                <a:solidFill>
                  <a:srgbClr val="F5F7FA"/>
                </a:solidFill>
                <a:latin typeface="Inter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Cada execucao recebe uma persona especifica como contexto e um prompt de sistema que define o comportamento do agente: raciocinar como o stakeholder representado e gerar requisitos alinhados aos seus interesses.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Rodamos </a:t>
            </a:r>
            <a:r>
              <a:rPr sz="1500" b="1" i="0">
                <a:solidFill>
                  <a:srgbClr val="34D399"/>
                </a:solidFill>
                <a:latin typeface="Inter"/>
              </a:rPr>
              <a:t>5 vezes por persona </a:t>
            </a:r>
            <a:r>
              <a:rPr sz="1500" b="0" i="0">
                <a:solidFill>
                  <a:srgbClr val="F5F7FA"/>
                </a:solidFill>
                <a:latin typeface="Inter"/>
              </a:rPr>
              <a:t>para avaliar estabilidade e escolher a melhor geracao.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Resultado desta etapa: um documento de requisitos por perspectiva — isolado, sem contaminacao entre stakeholders.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920240"/>
            <a:ext cx="4892040" cy="429768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057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EXEMPLO  ·  GERENTE DE PROJETOS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46888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5F7FA"/>
                </a:solidFill>
                <a:latin typeface="Inter"/>
              </a:rPr>
              <a:t>RF01 · Dashboard Unificado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Visao consolidada de cada projeto com status, sprint, membros e milestones.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5F7FA"/>
                </a:solidFill>
                <a:latin typeface="Inter"/>
              </a:rPr>
              <a:t>RF02 · Gestao de Sprints e Backlog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Planejar sprints, priorizar backlog e acompanhar via Kanban.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5F7FA"/>
                </a:solidFill>
                <a:latin typeface="Inter"/>
              </a:rPr>
              <a:t>RF04 · Timesheet Integrado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Registrar tempo por tarefa (equivalente ao Clockify).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5F7FA"/>
                </a:solidFill>
                <a:latin typeface="Inter"/>
              </a:rPr>
              <a:t>RF05 · Alocacao e Gestao de Squads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5B8"/>
                </a:solidFill>
                <a:latin typeface="Inter"/>
              </a:rPr>
              <a:t>Alocar membros a squads e papeis especificos por projeto.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08  ·  ETAPA 4  ·  CONSOLIDADOR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Inter"/>
              </a:rPr>
              <a:t>O especialista: consolida perspectivas com apoio de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0080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5F7FA"/>
                </a:solidFill>
                <a:latin typeface="Inter"/>
              </a:rPr>
              <a:t>Um segundo agente </a:t>
            </a:r>
            <a:r>
              <a:rPr sz="1600" b="1" i="0">
                <a:solidFill>
                  <a:srgbClr val="60A5FA"/>
                </a:solidFill>
                <a:latin typeface="Inter"/>
              </a:rPr>
              <a:t>(Gemini 2.5 Flash) </a:t>
            </a:r>
            <a:r>
              <a:rPr sz="1600" b="0" i="0">
                <a:solidFill>
                  <a:srgbClr val="F5F7FA"/>
                </a:solidFill>
                <a:latin typeface="Inter"/>
              </a:rPr>
              <a:t>recebe os requisitos individuais de todas as personas e produz um unico Documento de Especificacao de Requisitos (SRS).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34D399"/>
                </a:solidFill>
                <a:latin typeface="Inter"/>
              </a:rPr>
              <a:t>Sua missao: </a:t>
            </a:r>
            <a:r>
              <a:rPr sz="1600" b="0" i="0">
                <a:solidFill>
                  <a:srgbClr val="F5F7FA"/>
                </a:solidFill>
                <a:latin typeface="Inter"/>
              </a:rPr>
              <a:t>identificar conflitos, resolver redundancias e alinhar ambiguidades — sem perder as nuances de cada perspectiva.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Para nao 'inventar' regras da organizacao, o agente e enriquecido com </a:t>
            </a:r>
            <a:r>
              <a:rPr sz="1500" b="1" i="0">
                <a:solidFill>
                  <a:srgbClr val="34D399"/>
                </a:solidFill>
                <a:latin typeface="Inter"/>
              </a:rPr>
              <a:t>Retrieval-Augmented Generation (RAG) </a:t>
            </a:r>
            <a:r>
              <a:rPr sz="1500" b="0" i="0">
                <a:solidFill>
                  <a:srgbClr val="F5F7FA"/>
                </a:solidFill>
                <a:latin typeface="Inter"/>
              </a:rPr>
              <a:t>sobre a base de conhecimento da EJCM: Codigo de Etica, Estatuto e documentos institucionais indexados em ChromaDB com embeddings Gemini.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920240"/>
            <a:ext cx="4434840" cy="4297680"/>
          </a:xfrm>
          <a:prstGeom prst="roundRect">
            <a:avLst>
              <a:gd name="adj" fmla="val 4000"/>
            </a:avLst>
          </a:prstGeom>
          <a:solidFill>
            <a:srgbClr val="111828"/>
          </a:solidFill>
          <a:ln w="9525">
            <a:solidFill>
              <a:srgbClr val="60A5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443484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Inter"/>
              </a:rPr>
              <a:t>Figura 3 — Diagrama arquitetural (RAG + agentes)</a:t>
            </a:r>
          </a:p>
          <a:p>
            <a:pPr algn="ctr"/>
            <a:r>
              <a:rPr sz="1100" i="1">
                <a:solidFill>
                  <a:srgbClr val="9AA5B8"/>
                </a:solidFill>
                <a:latin typeface="Inter"/>
              </a:rPr>
              <a:t>
[ inserir imagem editavel aqui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09  ·  ENGENHARIA DE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Inter"/>
              </a:rPr>
              <a:t>Prompts como codigo: papel, instrucoes e formato de saida.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9AA5B8"/>
                </a:solidFill>
                <a:latin typeface="Inter"/>
              </a:rPr>
              <a:t>Todo prompt do pipeline segue o mesmo esqueleto — reduz alucinacao e garante saida estruturada.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PAPEL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Definicao explicita de quem o modelo e (ex: 'voce e um Engenheiro de Requisitos senior...').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Entrevista, persona ou requisitos anteriores + trechos recuperados via RAG.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INSTRUCOES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Passos objetivos: analisar, comparar, resolver conflitos, evitar genericos.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343400"/>
            <a:ext cx="5486400" cy="178308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FORMATO DE SAIDA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Estrutura fixa (Persona/Papel/Objetivos... ou RF/RNF numerados) para permitir automacao.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10  ·  AVALIACAO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Inter"/>
              </a:rPr>
              <a:t>Como sabemos se funciona? Avaliacao hibrida em duas frentes.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532120" cy="44805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60A5FA"/>
                </a:solidFill>
                <a:latin typeface="Inter"/>
              </a:rPr>
              <a:t>A  ·  VALIDACAO DE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Feita pelos proprios stakeholders entrevistados.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5029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Escala Likert de 4 pontos avaliando tres criterios: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Clareza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a persona e compreensivel?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Completude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cobre o que o entrevistado disse?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Corretude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fiel ao stakeholder real?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Nota minima 3 em cada criterio para aprovar. Caso contrario, regeramos a persona ou complementamos a entrevista.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5330952" cy="448056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60A5FA"/>
                </a:solidFill>
                <a:latin typeface="Inter"/>
              </a:rPr>
              <a:t>B  ·  AVALIACAO DE REQUISITOS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7FA"/>
                </a:solidFill>
                <a:latin typeface="Inter"/>
              </a:rPr>
              <a:t>Modelo INVENT — Engenharia de Requisitos.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20"/>
            <a:ext cx="5029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Inteligibilidade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clareza do requisito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Necessidade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resolve problema real?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Viabilidade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e tecnica e praticamente implementavel?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Estabilidade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resiste a mudancas de escopo?</a:t>
            </a:r>
          </a:p>
          <a:p>
            <a:pPr algn="l">
              <a:lnSpc>
                <a:spcPct val="160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Testabilidade 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— tem criterios objetivos de validacao?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11  · 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Inter"/>
              </a:rPr>
              <a:t>Personas — 6 stakeholders, 5 cargos, aprovacao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029200" cy="4480560"/>
          </a:xfrm>
          <a:prstGeom prst="roundRect">
            <a:avLst>
              <a:gd name="adj" fmla="val 6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60A5FA"/>
                </a:solidFill>
                <a:latin typeface="Inter"/>
              </a:rPr>
              <a:t>APROVACAO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0" b="1" i="0">
                <a:solidFill>
                  <a:srgbClr val="34D399"/>
                </a:solidFill>
                <a:latin typeface="Inter"/>
              </a:rPr>
              <a:t>6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personas receberam nota maxima em todos os criterios (clareza, completude, corretude).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920240"/>
            <a:ext cx="5806440" cy="4480560"/>
          </a:xfrm>
          <a:prstGeom prst="roundRect">
            <a:avLst>
              <a:gd name="adj" fmla="val 6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94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60A5FA"/>
                </a:solidFill>
                <a:latin typeface="Inter"/>
              </a:rPr>
              <a:t>OBSERVACOES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651760"/>
            <a:ext cx="5349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5F7FA"/>
                </a:solidFill>
                <a:latin typeface="Inter"/>
              </a:rPr>
              <a:t>Cada persona foi gerada 5 vezes </a:t>
            </a:r>
            <a:r>
              <a:rPr sz="1400" b="0" i="0">
                <a:solidFill>
                  <a:srgbClr val="F5F7FA"/>
                </a:solidFill>
                <a:latin typeface="Inter"/>
              </a:rPr>
              <a:t>para medir consistencia.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As geracoes se mostraram estaveis e semanticamente equivalentes entre si — o modelo capturou de forma confiavel objetivos, dores e contexto de cada participante.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34D399"/>
                </a:solidFill>
                <a:latin typeface="Inter"/>
              </a:rPr>
              <a:t>Cargos avaliados: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Assessora de Gestao de Pessoas · Assessora de Vendas + Dev Front-end · Lider Tecnico de Conhecimento · Lider Tecnico de Projetos · Gerente de Projetos.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11  · 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F7FA"/>
                </a:solidFill>
                <a:latin typeface="Inter"/>
              </a:rPr>
              <a:t>Requisitos — 49 gerados, 93,9% aprovados sem ajustes.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703320" cy="3108960"/>
          </a:xfrm>
          <a:prstGeom prst="roundRect">
            <a:avLst>
              <a:gd name="adj" fmla="val 6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REQUISITOS AVALIADOS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0" b="1" i="0">
                <a:solidFill>
                  <a:srgbClr val="F5F7FA"/>
                </a:solidFill>
                <a:latin typeface="Inter"/>
              </a:rPr>
              <a:t>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703320" cy="3108960"/>
          </a:xfrm>
          <a:prstGeom prst="roundRect">
            <a:avLst>
              <a:gd name="adj" fmla="val 6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CORRETOS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0" b="1" i="0">
                <a:solidFill>
                  <a:srgbClr val="34D399"/>
                </a:solidFill>
                <a:latin typeface="Inter"/>
              </a:rPr>
              <a:t>93,9%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703320" cy="3108960"/>
          </a:xfrm>
          <a:prstGeom prst="roundRect">
            <a:avLst>
              <a:gd name="adj" fmla="val 6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0A5FA"/>
                </a:solidFill>
                <a:latin typeface="Inter"/>
              </a:rPr>
              <a:t>CORRETOS COM AJUSTES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3200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0" b="1" i="0">
                <a:solidFill>
                  <a:srgbClr val="60A5FA"/>
                </a:solidFill>
                <a:latin typeface="Inter"/>
              </a:rPr>
              <a:t>6,1%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5F7FA"/>
                </a:solidFill>
                <a:latin typeface="Inter"/>
              </a:rPr>
              <a:t>Nenhum requisito foi considerado incorreto.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9AA5B8"/>
                </a:solidFill>
                <a:latin typeface="Inter"/>
              </a:rPr>
              <a:t>Os ajustes sugeridos foram refinamentos contextuais: RF04 (busca com tags), RF14 (Gantt complementando o Kanban) e RF18 (adequacao ao processo real da EJCM).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12  ·  ARTEFATO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5F7FA"/>
                </a:solidFill>
                <a:latin typeface="Inter"/>
              </a:rPr>
              <a:t>O SRS consolidado — trecho real do documento gerado.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9AA5B8"/>
                </a:solidFill>
                <a:latin typeface="Inter"/>
              </a:rPr>
              <a:t>36 requisitos funcionais em 6 modulos + 13 nao funcionais.  Arquivo: requisitos_consolidados_2.md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109960" cy="4160520"/>
          </a:xfrm>
          <a:prstGeom prst="roundRect">
            <a:avLst>
              <a:gd name="adj" fmla="val 3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73152" cy="41605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Modulo 1 — Plataforma, Seguranca e Colaboracao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5F7FA"/>
                </a:solidFill>
                <a:latin typeface="Inter"/>
              </a:rPr>
              <a:t>RF01 · Autenticacao Unificada (SSO)</a:t>
            </a:r>
            <a:r>
              <a:rPr sz="1300" b="0" i="0">
                <a:solidFill>
                  <a:srgbClr val="9AA5B8"/>
                </a:solidFill>
                <a:latin typeface="Inter"/>
              </a:rPr>
              <a:t>  — acesso via credencial unica do Google Workspace.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5F7FA"/>
                </a:solidFill>
                <a:latin typeface="Inter"/>
              </a:rPr>
              <a:t>RF02 · Controle de Acesso Baseado em Perfis (RBAC)</a:t>
            </a:r>
            <a:r>
              <a:rPr sz="1300" b="0" i="0">
                <a:solidFill>
                  <a:srgbClr val="9AA5B8"/>
                </a:solidFill>
                <a:latin typeface="Inter"/>
              </a:rPr>
              <a:t>  — visualizacao/edicao por papel (Diretoria, GP, Vendas, Cliente...).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5F7FA"/>
                </a:solidFill>
                <a:latin typeface="Inter"/>
              </a:rPr>
              <a:t>RF04 · Busca Global Indexada</a:t>
            </a:r>
            <a:r>
              <a:rPr sz="1300" b="0" i="0">
                <a:solidFill>
                  <a:srgbClr val="9AA5B8"/>
                </a:solidFill>
                <a:latin typeface="Inter"/>
              </a:rPr>
              <a:t>  — localizar leads, projetos, atas e conteudo de anexos.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34D399"/>
                </a:solidFill>
                <a:latin typeface="Inter"/>
              </a:rPr>
              <a:t>Modulo 5 — Gestao de Pessoas &amp; Conformidade Etica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5F7FA"/>
                </a:solidFill>
                <a:latin typeface="Inter"/>
              </a:rPr>
              <a:t>RF32 · Controle de Presenca e Sancoes Eticas</a:t>
            </a:r>
            <a:r>
              <a:rPr sz="1300" b="0" i="0">
                <a:solidFill>
                  <a:srgbClr val="9AA5B8"/>
                </a:solidFill>
                <a:latin typeface="Inter"/>
              </a:rPr>
              <a:t>  — alerta automatico apos 3 faltas em RG (via Codigo de Etica, extraido pelo RAG).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F5F7FA"/>
                </a:solidFill>
                <a:latin typeface="Inter"/>
              </a:rPr>
              <a:t>RF33 · Direito ao Esquecimento (LGPD)</a:t>
            </a:r>
            <a:r>
              <a:rPr sz="1300" b="0" i="0">
                <a:solidFill>
                  <a:srgbClr val="9AA5B8"/>
                </a:solidFill>
                <a:latin typeface="Inter"/>
              </a:rPr>
              <a:t>  — exclusao permanente de dados sensiveis mediante solicitacao.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60A5FA"/>
                </a:solidFill>
                <a:latin typeface="Inter"/>
              </a:rPr>
              <a:t>RNF01 · Conformidade com LGPD  ·  RNF04 · Busca em ate 2s  ·  RNF09 · Uptime 99,5%  ·  RNF11 · RTO 4h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13  ·  DISCUSSAO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Inter"/>
              </a:rPr>
              <a:t>O que esses resultados significam.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F5F7FA"/>
                </a:solidFill>
                <a:latin typeface="Inter"/>
              </a:rPr>
              <a:t>O sistema consolidou corretamente perspectivas distintas — comerciais, tecnicas, operacionais e de gestao — sem gerar requisitos incompativeis com o dominio.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F5F7FA"/>
                </a:solidFill>
                <a:latin typeface="Inter"/>
              </a:rPr>
              <a:t>As sugestoes de ajuste foram sempre </a:t>
            </a:r>
            <a:r>
              <a:rPr sz="1700" b="1" i="0">
                <a:solidFill>
                  <a:srgbClr val="60A5FA"/>
                </a:solidFill>
                <a:latin typeface="Inter"/>
              </a:rPr>
              <a:t>refinamentos contextuais</a:t>
            </a:r>
            <a:r>
              <a:rPr sz="1700" b="0" i="0">
                <a:solidFill>
                  <a:srgbClr val="F5F7FA"/>
                </a:solidFill>
                <a:latin typeface="Inter"/>
              </a:rPr>
              <a:t>, nunca correcoes estruturais. Isso sugere que a combinacao </a:t>
            </a:r>
            <a:r>
              <a:rPr sz="1700" b="1" i="0">
                <a:solidFill>
                  <a:srgbClr val="34D399"/>
                </a:solidFill>
                <a:latin typeface="Inter"/>
              </a:rPr>
              <a:t>personas + agentes especializados + RAG </a:t>
            </a:r>
            <a:r>
              <a:rPr sz="1700" b="0" i="0">
                <a:solidFill>
                  <a:srgbClr val="F5F7FA"/>
                </a:solidFill>
                <a:latin typeface="Inter"/>
              </a:rPr>
              <a:t>preservou o contexto das entrevistas ao longo de todo o pipeline.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9AA5B8"/>
                </a:solidFill>
                <a:latin typeface="Inter"/>
              </a:rPr>
              <a:t>Pontos de atencao observados: em raras execucoes, um mesmo requisito foi classificado como funcional em uma rodada e nao-funcional em outra; e algumas especificacoes foram alem do escopo razoavel de uma empresa junior (ex: exigir 99,5% de uptime).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60A5FA"/>
                </a:solidFill>
                <a:latin typeface="Inter"/>
              </a:rPr>
              <a:t>14  ·  CONCLUSAO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9AA5B8"/>
                </a:solidFill>
                <a:latin typeface="Inter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AA5B8"/>
                </a:solidFill>
                <a:latin typeface="Inter"/>
              </a:rPr>
              <a:t>Sistema Multiagente de Elicitacao de Requisitos  ·  EJCM · UFRJ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F5F7FA"/>
                </a:solidFill>
                <a:latin typeface="Inter"/>
              </a:rPr>
              <a:t>Conclusao e proximos passos.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85216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Contribuicao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Uma abordagem end-to-end de IA generativa para elicitacao de requisitos: personas fundamentadas em entrevistas reais + ecossistema multiagente + consolidacao com RAG.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60A5FA"/>
                </a:solidFill>
                <a:latin typeface="Inter"/>
              </a:rPr>
              <a:t>Validacao preliminar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5F7FA"/>
                </a:solidFill>
                <a:latin typeface="Inter"/>
              </a:rPr>
              <a:t>6/6 personas aprovadas com nota maxima. 93,9% dos 49 requisitos considerados corretos. Nenhum requisito incorreto.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920240"/>
            <a:ext cx="4983480" cy="4297680"/>
          </a:xfrm>
          <a:prstGeom prst="roundRect">
            <a:avLst>
              <a:gd name="adj" fmla="val 5000"/>
            </a:avLst>
          </a:prstGeom>
          <a:solidFill>
            <a:srgbClr val="11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103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D399"/>
                </a:solidFill>
                <a:latin typeface="Inter"/>
              </a:rPr>
              <a:t>TRABALHOS FUTUROS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60604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Ampliar a avaliacao para outras organizacoes e mais stakeholders.</a:t>
            </a:r>
          </a:p>
          <a:p>
            <a:pPr algn="l">
              <a:lnSpc>
                <a:spcPct val="14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Comparar os requisitos gerados com especificacoes elaboradas por engenheiros de requisitos humanos.</a:t>
            </a:r>
          </a:p>
          <a:p>
            <a:pPr algn="l">
              <a:lnSpc>
                <a:spcPct val="145000"/>
              </a:lnSpc>
            </a:pPr>
            <a:r>
              <a:rPr sz="6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5F7FA"/>
                </a:solidFill>
                <a:latin typeface="Inter"/>
              </a:rPr>
              <a:t>Explorar negociacao automatica entre agentes para resolver conflitos entre perspectivas durante a elicitacao.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60A5FA"/>
                </a:solidFill>
                <a:latin typeface="Inter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 i="0">
                <a:solidFill>
                  <a:srgbClr val="F5F7FA"/>
                </a:solidFill>
                <a:latin typeface="Inter"/>
              </a:rPr>
              <a:t>Perguntas?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931920"/>
            <a:ext cx="3291840" cy="0"/>
          </a:xfrm>
          <a:prstGeom prst="line">
            <a:avLst/>
          </a:prstGeom>
          <a:ln w="12700">
            <a:solidFill>
              <a:srgbClr val="222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>
                <a:solidFill>
                  <a:srgbClr val="F5F7FA"/>
                </a:solidFill>
                <a:latin typeface="Inter"/>
              </a:rPr>
              <a:t>Sistema Multiagente de Elicitacao de Requisitos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9AA5B8"/>
                </a:solidFill>
                <a:latin typeface="Inter"/>
              </a:rPr>
              <a:t>Stakeholders como Personas de LLM  ·  Estudo de caso: EJCM Consultoria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F5F7FA"/>
                </a:solidFill>
                <a:latin typeface="Inter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AA5B8"/>
                </a:solidFill>
                <a:latin typeface="Inter"/>
              </a:rPr>
              <a:t>Cassio Emanuel  ·  Giovanna Lavouras  ·  Rafael Maiani  ·  Rodrigo Nogueira  ·  Thiago Barcellos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